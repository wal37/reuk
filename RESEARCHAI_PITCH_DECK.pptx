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  <Relationship Id="rId2" Type="http://schemas.openxmlformats.org/officeDocument/2006/relationships/image" Target="../media/image1.jpeg"/>
  <Relationship Id="rId3" Type="http://schemas.openxmlformats.org/officeDocument/2006/relationships/image" Target="../media/image2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  <Relationship Id="rId2" Type="http://schemas.openxmlformats.org/officeDocument/2006/relationships/image" Target="../media/image1.jpeg"/>
  <Relationship Id="rId3" Type="http://schemas.openxmlformats.org/officeDocument/2006/relationships/image" Target="../media/image2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48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685800"/>
            <a:ext cx="4389120" cy="5486400"/>
          </a:xfrm>
          <a:prstGeom prst="roundRect">
            <a:avLst/>
          </a:prstGeom>
          <a:solidFill>
            <a:srgbClr val="5D7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5349240" y="685800"/>
            <a:ext cx="6172200" cy="548640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784080" y="1051560"/>
            <a:ext cx="10515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" name="Picture 6" descr="ucl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261872"/>
            <a:ext cx="658368" cy="54864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9784080" y="2331720"/>
            <a:ext cx="10515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8" name="Picture 8" descr="edin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2560320"/>
            <a:ext cx="658368" cy="512064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1005840" y="10058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EAF3DF"/>
                </a:solidFill>
                <a:latin typeface="Aptos"/>
              </a:rPr>
              <a:t>RESEARCHAI</a:t>
            </a:r>
            <a:endParaRPr lang="en-US" sz="1800">
              <a:solidFill>
                <a:srgbClr val="EAF3DF"/>
              </a:solidFill>
              <a:latin typeface="Aptos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005840" y="1645920"/>
            <a:ext cx="3474720" cy="19202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Participant research infrastructure for modern AI programs.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1005840" y="3977639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AF3DF"/>
                </a:solidFill>
                <a:latin typeface="Aptos"/>
              </a:rPr>
              <a:t>A research operating layer for intake, screening, study flow, contributor memory, and repeat-ready cohorts.</a:t>
            </a:r>
            <a:endParaRPr lang="en-US" sz="1200">
              <a:solidFill>
                <a:srgbClr val="EAF3DF"/>
              </a:solidFill>
              <a:latin typeface="Aptos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5806440" y="10972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300" b="1" cap="all">
                <a:solidFill>
                  <a:srgbClr val="6D8751"/>
                </a:solidFill>
                <a:latin typeface="Aptos"/>
              </a:rPr>
              <a:t>14-SLIDE COMPANY DECK</a:t>
            </a:r>
            <a:endParaRPr lang="en-US" sz="1300">
              <a:solidFill>
                <a:srgbClr val="6D8751"/>
              </a:solidFill>
              <a:latin typeface="Aptos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5806440" y="1828800"/>
            <a:ext cx="4572000" cy="19202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300" b="1">
                <a:solidFill>
                  <a:srgbClr val="1F2D1B"/>
                </a:solidFill>
                <a:latin typeface="Georgia"/>
              </a:rPr>
              <a:t>ResearchAI brings participant systems, study operations, and AI-facing workflows into one structured environment.</a:t>
            </a:r>
            <a:endParaRPr lang="en-US" sz="2300">
              <a:solidFill>
                <a:srgbClr val="1F2D1B"/>
              </a:solidFill>
              <a:latin typeface="Georgia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5806440" y="4160520"/>
            <a:ext cx="3749039" cy="1234440"/>
          </a:xfrm>
          <a:prstGeom prst="roundRect">
            <a:avLst/>
          </a:prstGeom>
          <a:solidFill>
            <a:srgbClr val="E6EDD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080760" y="4462272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50" b="1">
                <a:solidFill>
                  <a:srgbClr val="324826"/>
                </a:solidFill>
                <a:latin typeface="Aptos"/>
              </a:rPr>
              <a:t>UK AI Sector Study 2025</a:t>
            </a:r>
            <a:endParaRPr lang="en-US" sz="1250">
              <a:solidFill>
                <a:srgbClr val="324826"/>
              </a:solidFill>
              <a:latin typeface="Aptos"/>
            </a:endParaRPr>
          </a:p>
          <a:p>
            <a:pPr algn="l"/>
            <a:r>
              <a:rPr lang="en-US" sz="1250" b="1">
                <a:solidFill>
                  <a:srgbClr val="324826"/>
                </a:solidFill>
                <a:latin typeface="Aptos"/>
              </a:rPr>
              <a:t>5,862 companies | £23.9B revenue</a:t>
            </a:r>
            <a:endParaRPr lang="en-US" sz="125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9966960" y="45262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"/>
            <a:r>
              <a:rPr lang="en-US" sz="1050" b="1">
                <a:solidFill>
                  <a:srgbClr val="324826"/>
                </a:solidFill>
                <a:latin typeface="Aptos"/>
              </a:rPr>
              <a:t>UCL</a:t>
            </a:r>
            <a:endParaRPr lang="en-US" sz="105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9966960" y="36118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"/>
            <a:r>
              <a:rPr lang="en-US" sz="1000" b="1">
                <a:solidFill>
                  <a:srgbClr val="324826"/>
                </a:solidFill>
                <a:latin typeface="Aptos"/>
              </a:rPr>
              <a:t>Edinburgh</a:t>
            </a:r>
            <a:endParaRPr lang="en-US" sz="10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5806440" y="555955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150" b="1">
                <a:solidFill>
                  <a:srgbClr val="5F7059"/>
                </a:solidFill>
                <a:latin typeface="Aptos"/>
              </a:rPr>
              <a:t>Contact: info@researchai.co.uk</a:t>
            </a:r>
            <a:endParaRPr lang="en-US" sz="1150">
              <a:solidFill>
                <a:srgbClr val="5F705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D7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75488" y="384048"/>
            <a:ext cx="11201400" cy="73152"/>
          </a:xfrm>
          <a:prstGeom prst="rect">
            <a:avLst/>
          </a:prstGeom>
          <a:solidFill>
            <a:srgbClr val="DCE8C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58368" y="5029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DCE8CF"/>
                </a:solidFill>
                <a:latin typeface="Aptos"/>
              </a:rPr>
              <a:t>01</a:t>
            </a:r>
            <a:endParaRPr lang="en-US" sz="1800">
              <a:solidFill>
                <a:srgbClr val="DCE8CF"/>
              </a:solidFill>
              <a:latin typeface="Aptos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58368" y="868680"/>
            <a:ext cx="530352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Research is operational work, not just project work.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58368" y="18288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7EFE2"/>
                </a:solidFill>
                <a:latin typeface="Aptos"/>
              </a:rPr>
              <a:t>The platform is designed around the day-to-day mechanics of sourcing, qualifying, routing, reviewing, and retaining contributors for serious research programs.</a:t>
            </a:r>
            <a:endParaRPr lang="en-US" sz="12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537960" y="914400"/>
            <a:ext cx="1828800" cy="182880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6684264" y="1042416"/>
            <a:ext cx="1536192" cy="157276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000" b="1">
                <a:solidFill>
                  <a:srgbClr val="324826"/>
                </a:solidFill>
                <a:latin typeface="Aptos"/>
              </a:rPr>
              <a:t>01</a:t>
            </a:r>
            <a:endParaRPr lang="en-US" sz="2000">
              <a:solidFill>
                <a:srgbClr val="324826"/>
              </a:solidFill>
              <a:latin typeface="Aptos"/>
            </a:endParaRPr>
          </a:p>
          <a:p>
            <a:pPr algn="l"/>
            <a:r>
              <a:rPr lang="en-US" sz="2000" b="1">
                <a:solidFill>
                  <a:srgbClr val="324826"/>
                </a:solidFill>
                <a:latin typeface="Aptos"/>
              </a:rPr>
              <a:t>Intake</a:t>
            </a:r>
            <a:endParaRPr lang="en-US" sz="20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9" name="Shape 9"/>
          <p:cNvSpPr/>
          <p:nvPr/>
        </p:nvSpPr>
        <p:spPr>
          <a:xfrm>
            <a:off x="8595360" y="914400"/>
            <a:ext cx="1828800" cy="1828800"/>
          </a:xfrm>
          <a:prstGeom prst="roundRect">
            <a:avLst/>
          </a:prstGeom>
          <a:solidFill>
            <a:srgbClr val="DCE8C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8741664" y="1042416"/>
            <a:ext cx="1536192" cy="157276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000" b="1">
                <a:solidFill>
                  <a:srgbClr val="324826"/>
                </a:solidFill>
                <a:latin typeface="Aptos"/>
              </a:rPr>
              <a:t>02</a:t>
            </a:r>
            <a:endParaRPr lang="en-US" sz="2000">
              <a:solidFill>
                <a:srgbClr val="324826"/>
              </a:solidFill>
              <a:latin typeface="Aptos"/>
            </a:endParaRPr>
          </a:p>
          <a:p>
            <a:pPr algn="l"/>
            <a:r>
              <a:rPr lang="en-US" sz="2000" b="1">
                <a:solidFill>
                  <a:srgbClr val="324826"/>
                </a:solidFill>
                <a:latin typeface="Aptos"/>
              </a:rPr>
              <a:t>Fit</a:t>
            </a:r>
            <a:endParaRPr lang="en-US" sz="20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537960" y="3017520"/>
            <a:ext cx="1828800" cy="1828800"/>
          </a:xfrm>
          <a:prstGeom prst="roundRect">
            <a:avLst/>
          </a:prstGeom>
          <a:solidFill>
            <a:srgbClr val="E9F1E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6684264" y="3145536"/>
            <a:ext cx="1536192" cy="157276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000" b="1">
                <a:solidFill>
                  <a:srgbClr val="324826"/>
                </a:solidFill>
                <a:latin typeface="Aptos"/>
              </a:rPr>
              <a:t>03</a:t>
            </a:r>
            <a:endParaRPr lang="en-US" sz="2000">
              <a:solidFill>
                <a:srgbClr val="324826"/>
              </a:solidFill>
              <a:latin typeface="Aptos"/>
            </a:endParaRPr>
          </a:p>
          <a:p>
            <a:pPr algn="l"/>
            <a:r>
              <a:rPr lang="en-US" sz="2000" b="1">
                <a:solidFill>
                  <a:srgbClr val="324826"/>
                </a:solidFill>
                <a:latin typeface="Aptos"/>
              </a:rPr>
              <a:t>Studies</a:t>
            </a:r>
            <a:endParaRPr lang="en-US" sz="20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8595360" y="3017520"/>
            <a:ext cx="1828800" cy="1828800"/>
          </a:xfrm>
          <a:prstGeom prst="roundRect">
            <a:avLst/>
          </a:prstGeom>
          <a:solidFill>
            <a:srgbClr val="C9D8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8741664" y="3145536"/>
            <a:ext cx="1536192" cy="157276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000" b="1">
                <a:solidFill>
                  <a:srgbClr val="324826"/>
                </a:solidFill>
                <a:latin typeface="Aptos"/>
              </a:rPr>
              <a:t>04</a:t>
            </a:r>
            <a:endParaRPr lang="en-US" sz="2000">
              <a:solidFill>
                <a:srgbClr val="324826"/>
              </a:solidFill>
              <a:latin typeface="Aptos"/>
            </a:endParaRPr>
          </a:p>
          <a:p>
            <a:pPr algn="l"/>
            <a:r>
              <a:rPr lang="en-US" sz="2000" b="1">
                <a:solidFill>
                  <a:srgbClr val="324826"/>
                </a:solidFill>
                <a:latin typeface="Aptos"/>
              </a:rPr>
              <a:t>Memory</a:t>
            </a:r>
            <a:endParaRPr lang="en-US" sz="2000">
              <a:solidFill>
                <a:srgbClr val="32482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75488" y="384048"/>
            <a:ext cx="11201400" cy="73152"/>
          </a:xfrm>
          <a:prstGeom prst="rect">
            <a:avLst/>
          </a:prstGeom>
          <a:solidFill>
            <a:srgbClr val="6D875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58368" y="5029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6D8751"/>
                </a:solidFill>
                <a:latin typeface="Aptos"/>
              </a:rPr>
              <a:t>02</a:t>
            </a:r>
            <a:endParaRPr lang="en-US" sz="1800">
              <a:solidFill>
                <a:srgbClr val="6D8751"/>
              </a:solidFill>
              <a:latin typeface="Aptos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58368" y="868680"/>
            <a:ext cx="530352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Where participant research breaks down.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58368" y="18288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7EFE2"/>
                </a:solidFill>
                <a:latin typeface="Aptos"/>
              </a:rPr>
              <a:t>Most teams still patch together sourcing, qualification, study execution, notes, and re-contact workflows across separate tools.</a:t>
            </a:r>
            <a:endParaRPr lang="en-US" sz="12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31520" y="27432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77824" y="2871216"/>
            <a:ext cx="2267712" cy="111556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Fragmented intake</a:t>
            </a:r>
            <a:endParaRPr lang="en-US" sz="14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Profiles, forms, and study history live in different places.</a:t>
            </a:r>
            <a:endParaRPr lang="en-US" sz="14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9" name="Shape 9"/>
          <p:cNvSpPr/>
          <p:nvPr/>
        </p:nvSpPr>
        <p:spPr>
          <a:xfrm>
            <a:off x="3566160" y="27432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3712463" y="2871216"/>
            <a:ext cx="2267712" cy="111556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Weak screening</a:t>
            </a:r>
            <a:endParaRPr lang="en-US" sz="14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Fit decisions are inconsistent and difficult to audit later.</a:t>
            </a:r>
            <a:endParaRPr lang="en-US" sz="14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400800" y="27432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6547104" y="2871216"/>
            <a:ext cx="2267712" cy="111556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Operational drift</a:t>
            </a:r>
            <a:endParaRPr lang="en-US" sz="14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Assignments, notes, and payout readiness separate over time.</a:t>
            </a:r>
            <a:endParaRPr lang="en-US" sz="14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9235440" y="2743200"/>
            <a:ext cx="2194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9381744" y="2871216"/>
            <a:ext cx="1901952" cy="111556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Lost cohorts</a:t>
            </a:r>
            <a:endParaRPr lang="en-US" sz="14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Repeat-ready contributors are hard to preserve and reuse.</a:t>
            </a:r>
            <a:endParaRPr lang="en-US" sz="1400">
              <a:solidFill>
                <a:srgbClr val="1F2D1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48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75488" y="384048"/>
            <a:ext cx="11201400" cy="73152"/>
          </a:xfrm>
          <a:prstGeom prst="rect">
            <a:avLst/>
          </a:prstGeom>
          <a:solidFill>
            <a:srgbClr val="C9D8B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58368" y="5029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C9D8B5"/>
                </a:solidFill>
                <a:latin typeface="Aptos"/>
              </a:rPr>
              <a:t>03</a:t>
            </a:r>
            <a:endParaRPr lang="en-US" sz="1800">
              <a:solidFill>
                <a:srgbClr val="C9D8B5"/>
              </a:solidFill>
              <a:latin typeface="Aptos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58368" y="868680"/>
            <a:ext cx="530352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ResearchAI centralizes participant workflow.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58368" y="18288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7EFE2"/>
                </a:solidFill>
                <a:latin typeface="Aptos"/>
              </a:rPr>
              <a:t>The product aligns contributor records, screening logic, study routing, review states, and trust signals inside one operating system.</a:t>
            </a:r>
            <a:endParaRPr lang="en-US" sz="12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822960" y="2743200"/>
            <a:ext cx="10515600" cy="777240"/>
          </a:xfrm>
          <a:prstGeom prst="roundRect">
            <a:avLst/>
          </a:prstGeom>
          <a:solidFill>
            <a:srgbClr val="5D7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969264" y="2871216"/>
            <a:ext cx="10222992" cy="521207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"/>
            <a:r>
              <a:rPr lang="en-US" sz="2000" b="1">
                <a:solidFill>
                  <a:srgbClr val="FFFFFF"/>
                </a:solidFill>
                <a:latin typeface="Aptos"/>
              </a:rPr>
              <a:t>Register → Screen → Assign → Review → Reuse</a:t>
            </a:r>
            <a:endParaRPr lang="en-US" sz="20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Shape 9"/>
          <p:cNvSpPr/>
          <p:nvPr/>
        </p:nvSpPr>
        <p:spPr>
          <a:xfrm>
            <a:off x="822960" y="3886200"/>
            <a:ext cx="3291840" cy="137160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969264" y="4014215"/>
            <a:ext cx="2999232" cy="111556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One record per contributor</a:t>
            </a:r>
            <a:endParaRPr lang="en-US" sz="14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Identity, devices, expertise, notes, and past participation stay connected.</a:t>
            </a:r>
            <a:endParaRPr lang="en-US" sz="14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434840" y="3886200"/>
            <a:ext cx="3291840" cy="1371600"/>
          </a:xfrm>
          <a:prstGeom prst="roundRect">
            <a:avLst/>
          </a:prstGeom>
          <a:solidFill>
            <a:srgbClr val="E6EDD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581144" y="4014215"/>
            <a:ext cx="2999232" cy="111556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One operating flow per study</a:t>
            </a:r>
            <a:endParaRPr lang="en-US" sz="14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Invitations, review, completion, and payout readiness stay visible.</a:t>
            </a:r>
            <a:endParaRPr lang="en-US" sz="14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8046720" y="3886200"/>
            <a:ext cx="3291840" cy="1371600"/>
          </a:xfrm>
          <a:prstGeom prst="roundRect">
            <a:avLst/>
          </a:prstGeom>
          <a:solidFill>
            <a:srgbClr val="DCE8C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8193024" y="4014215"/>
            <a:ext cx="2999232" cy="111556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One memory layer across programs</a:t>
            </a:r>
            <a:endParaRPr lang="en-US" sz="14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Teams can re-contact stronger cohorts instead of starting from zero.</a:t>
            </a:r>
            <a:endParaRPr lang="en-US" sz="1400">
              <a:solidFill>
                <a:srgbClr val="1F2D1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75488" y="384048"/>
            <a:ext cx="11201400" cy="73152"/>
          </a:xfrm>
          <a:prstGeom prst="rect">
            <a:avLst/>
          </a:prstGeom>
          <a:solidFill>
            <a:srgbClr val="5D7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58368" y="5029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5D7442"/>
                </a:solidFill>
                <a:latin typeface="Aptos"/>
              </a:rPr>
              <a:t>04</a:t>
            </a:r>
            <a:endParaRPr lang="en-US" sz="1800">
              <a:solidFill>
                <a:srgbClr val="5D7442"/>
              </a:solidFill>
              <a:latin typeface="Aptos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58368" y="868680"/>
            <a:ext cx="530352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Participant infrastructure, not just recruitment.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58368" y="18288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7EFE2"/>
                </a:solidFill>
                <a:latin typeface="Aptos"/>
              </a:rPr>
              <a:t>The platform is designed for broad research pools, specialist cohorts, and recurring evaluation communities that need stronger operational memory.</a:t>
            </a:r>
            <a:endParaRPr lang="en-US" sz="12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822960" y="269748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B5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969264" y="2825496"/>
            <a:ext cx="3182112" cy="175564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General participant pools</a:t>
            </a:r>
            <a:endParaRPr lang="en-US" sz="16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Surveys, concept tests, interviews, and product feedback programs.</a:t>
            </a:r>
            <a:endParaRPr lang="en-US" sz="16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9" name="Shape 9"/>
          <p:cNvSpPr/>
          <p:nvPr/>
        </p:nvSpPr>
        <p:spPr>
          <a:xfrm>
            <a:off x="4370832" y="2697480"/>
            <a:ext cx="3474720" cy="2011680"/>
          </a:xfrm>
          <a:prstGeom prst="roundRect">
            <a:avLst/>
          </a:prstGeom>
          <a:solidFill>
            <a:srgbClr val="E9F1E0"/>
          </a:solidFill>
          <a:ln w="12700">
            <a:solidFill>
              <a:srgbClr val="C9D8B5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517136" y="2825496"/>
            <a:ext cx="3182112" cy="175564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Expert cohorts</a:t>
            </a:r>
            <a:endParaRPr lang="en-US" sz="16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Healthcare, policy, technical, financial, and domain-specific contributors.</a:t>
            </a:r>
            <a:endParaRPr lang="en-US" sz="16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918704" y="2697480"/>
            <a:ext cx="3474720" cy="2011680"/>
          </a:xfrm>
          <a:prstGeom prst="roundRect">
            <a:avLst/>
          </a:prstGeom>
          <a:solidFill>
            <a:srgbClr val="DCE8CF"/>
          </a:solidFill>
          <a:ln w="12700">
            <a:solidFill>
              <a:srgbClr val="C9D8B5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065008" y="2825496"/>
            <a:ext cx="3182112" cy="175564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Evaluation networks</a:t>
            </a:r>
            <a:endParaRPr lang="en-US" sz="16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Repeat reviewers for annotation, red teaming, scoring, and model feedback.</a:t>
            </a:r>
            <a:endParaRPr lang="en-US" sz="1600">
              <a:solidFill>
                <a:srgbClr val="1F2D1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48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22960" y="8686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C9D8B5"/>
                </a:solidFill>
                <a:latin typeface="Aptos"/>
              </a:rPr>
              <a:t>05</a:t>
            </a:r>
            <a:endParaRPr lang="en-US" sz="1800">
              <a:solidFill>
                <a:srgbClr val="C9D8B5"/>
              </a:solidFill>
              <a:latin typeface="Aptos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822960" y="132588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Study operations become visible.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822960" y="214884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7EFE2"/>
                </a:solidFill>
                <a:latin typeface="Aptos"/>
              </a:rPr>
              <a:t>ResearchAI gives teams a single operating sequence from recruiting participants to closing work cleanly.</a:t>
            </a:r>
            <a:endParaRPr lang="en-US" sz="12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6" name="Shape 6"/>
          <p:cNvSpPr/>
          <p:nvPr/>
        </p:nvSpPr>
        <p:spPr>
          <a:xfrm>
            <a:off x="1828800" y="3794760"/>
            <a:ext cx="8595360" cy="25400"/>
          </a:xfrm>
          <a:prstGeom prst="rect">
            <a:avLst/>
          </a:prstGeom>
          <a:solidFill>
            <a:srgbClr val="C9D8B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463040" y="4023360"/>
            <a:ext cx="1965960" cy="123444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627632" y="4133088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500" b="1">
                <a:solidFill>
                  <a:srgbClr val="324826"/>
                </a:solidFill>
                <a:latin typeface="Aptos"/>
              </a:rPr>
              <a:t>Recruit</a:t>
            </a:r>
            <a:endParaRPr lang="en-US" sz="15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627632" y="45262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050" b="0">
                <a:solidFill>
                  <a:srgbClr val="5F7059"/>
                </a:solidFill>
                <a:latin typeface="Aptos"/>
              </a:rPr>
              <a:t>Broad pools and expert cohorts</a:t>
            </a:r>
            <a:endParaRPr lang="en-US" sz="1050">
              <a:solidFill>
                <a:srgbClr val="5F7059"/>
              </a:solidFill>
              <a:latin typeface="Aptos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3794760" y="2834640"/>
            <a:ext cx="1965960" cy="123444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3959352" y="2944368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500" b="1">
                <a:solidFill>
                  <a:srgbClr val="324826"/>
                </a:solidFill>
                <a:latin typeface="Aptos"/>
              </a:rPr>
              <a:t>Qualify</a:t>
            </a:r>
            <a:endParaRPr lang="en-US" sz="15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3959352" y="33375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050" b="0">
                <a:solidFill>
                  <a:srgbClr val="5F7059"/>
                </a:solidFill>
                <a:latin typeface="Aptos"/>
              </a:rPr>
              <a:t>Fit logic and human review</a:t>
            </a:r>
            <a:endParaRPr lang="en-US" sz="1050">
              <a:solidFill>
                <a:srgbClr val="5F7059"/>
              </a:solidFill>
              <a:latin typeface="Aptos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126480" y="4023360"/>
            <a:ext cx="1965960" cy="123444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6291072" y="4133088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500" b="1">
                <a:solidFill>
                  <a:srgbClr val="324826"/>
                </a:solidFill>
                <a:latin typeface="Aptos"/>
              </a:rPr>
              <a:t>Assign</a:t>
            </a:r>
            <a:endParaRPr lang="en-US" sz="15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6291072" y="45262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050" b="0">
                <a:solidFill>
                  <a:srgbClr val="5F7059"/>
                </a:solidFill>
                <a:latin typeface="Aptos"/>
              </a:rPr>
              <a:t>Studies, tasks, interviews</a:t>
            </a:r>
            <a:endParaRPr lang="en-US" sz="1050">
              <a:solidFill>
                <a:srgbClr val="5F7059"/>
              </a:solidFill>
              <a:latin typeface="Aptos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8458200" y="2834640"/>
            <a:ext cx="1965960" cy="123444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622792" y="2944368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500" b="1">
                <a:solidFill>
                  <a:srgbClr val="324826"/>
                </a:solidFill>
                <a:latin typeface="Aptos"/>
              </a:rPr>
              <a:t>Close</a:t>
            </a:r>
            <a:endParaRPr lang="en-US" sz="15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8622792" y="33375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050" b="0">
                <a:solidFill>
                  <a:srgbClr val="5F7059"/>
                </a:solidFill>
                <a:latin typeface="Aptos"/>
              </a:rPr>
              <a:t>Notes, outcomes, payout readiness</a:t>
            </a:r>
            <a:endParaRPr lang="en-US" sz="1050">
              <a:solidFill>
                <a:srgbClr val="5F705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D7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75488" y="384048"/>
            <a:ext cx="11201400" cy="73152"/>
          </a:xfrm>
          <a:prstGeom prst="rect">
            <a:avLst/>
          </a:prstGeom>
          <a:solidFill>
            <a:srgbClr val="E4E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58368" y="5029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E4EED8"/>
                </a:solidFill>
                <a:latin typeface="Aptos"/>
              </a:rPr>
              <a:t>06</a:t>
            </a:r>
            <a:endParaRPr lang="en-US" sz="1800">
              <a:solidFill>
                <a:srgbClr val="E4EED8"/>
              </a:solidFill>
              <a:latin typeface="Aptos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58368" y="868680"/>
            <a:ext cx="530352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Built for participant, study, and AI workflows.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58368" y="18288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7EFE2"/>
                </a:solidFill>
                <a:latin typeface="Aptos"/>
              </a:rPr>
              <a:t>The operating model can support human evaluation loops, annotation programs, benchmarking tasks, and repeatable feedback programs tied to AI product work.</a:t>
            </a:r>
            <a:endParaRPr lang="en-US" sz="12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822960" y="2880360"/>
            <a:ext cx="3383280" cy="224028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969264" y="3008376"/>
            <a:ext cx="3090672" cy="198424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Model evaluations</a:t>
            </a:r>
            <a:endParaRPr lang="en-US" sz="15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Route trained reviewers into structured scoring and assessment programs.</a:t>
            </a:r>
            <a:endParaRPr lang="en-US" sz="15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9" name="Shape 9"/>
          <p:cNvSpPr/>
          <p:nvPr/>
        </p:nvSpPr>
        <p:spPr>
          <a:xfrm>
            <a:off x="4407408" y="2880360"/>
            <a:ext cx="3383280" cy="2240280"/>
          </a:xfrm>
          <a:prstGeom prst="roundRect">
            <a:avLst/>
          </a:prstGeom>
          <a:solidFill>
            <a:srgbClr val="E6EDD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553712" y="3008376"/>
            <a:ext cx="3090672" cy="198424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Human feedback loops</a:t>
            </a:r>
            <a:endParaRPr lang="en-US" sz="15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Track who reviewed what, with what quality, and under which eligibility rules.</a:t>
            </a:r>
            <a:endParaRPr lang="en-US" sz="15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991856" y="2880360"/>
            <a:ext cx="3383280" cy="2240280"/>
          </a:xfrm>
          <a:prstGeom prst="roundRect">
            <a:avLst/>
          </a:prstGeom>
          <a:solidFill>
            <a:srgbClr val="C9D8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138160" y="3008376"/>
            <a:ext cx="3090672" cy="198424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Repeat programs</a:t>
            </a:r>
            <a:endParaRPr lang="en-US" sz="15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Preserve strong contributor networks for ongoing AI studies instead of rebuilding every cycle.</a:t>
            </a:r>
            <a:endParaRPr lang="en-US" sz="1500">
              <a:solidFill>
                <a:srgbClr val="1F2D1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75488" y="384048"/>
            <a:ext cx="11201400" cy="73152"/>
          </a:xfrm>
          <a:prstGeom prst="rect">
            <a:avLst/>
          </a:prstGeom>
          <a:solidFill>
            <a:srgbClr val="6D875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58368" y="5029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6D8751"/>
                </a:solidFill>
                <a:latin typeface="Aptos"/>
              </a:rPr>
              <a:t>07</a:t>
            </a:r>
            <a:endParaRPr lang="en-US" sz="1800">
              <a:solidFill>
                <a:srgbClr val="6D8751"/>
              </a:solidFill>
              <a:latin typeface="Aptos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58368" y="868680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1F2D1B"/>
                </a:solidFill>
                <a:latin typeface="Georgia"/>
              </a:rPr>
              <a:t>Trusted institution sourcing is a demand-side advantage.</a:t>
            </a:r>
            <a:endParaRPr lang="en-US" sz="2500">
              <a:solidFill>
                <a:srgbClr val="1F2D1B"/>
              </a:solidFill>
              <a:latin typeface="Georgi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58368" y="1828800"/>
            <a:ext cx="576072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5F7059"/>
                </a:solidFill>
                <a:latin typeface="Aptos"/>
              </a:rPr>
              <a:t>Higher-trust participant pools matter more as AI studies move into regulated, academic, and expert-reviewed settings.</a:t>
            </a:r>
            <a:endParaRPr lang="en-US" sz="1200">
              <a:solidFill>
                <a:srgbClr val="5F7059"/>
              </a:solidFill>
              <a:latin typeface="Apto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868680" y="2743200"/>
            <a:ext cx="4663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pic>
        <p:nvPicPr>
          <p:cNvPr id="8" name="Picture 8" descr="ucl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46120"/>
            <a:ext cx="1508760" cy="1051560"/>
          </a:xfrm>
          <a:prstGeom prst="rect">
            <a:avLst/>
          </a:prstGeom>
        </p:spPr>
      </p:pic>
      <p:pic>
        <p:nvPicPr>
          <p:cNvPr id="9" name="Picture 9" descr="edin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3182112"/>
            <a:ext cx="1508760" cy="1170432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1051560" y="45720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"/>
            <a:r>
              <a:rPr lang="en-US" sz="1150" b="1">
                <a:solidFill>
                  <a:srgbClr val="324826"/>
                </a:solidFill>
                <a:latin typeface="Aptos"/>
              </a:rPr>
              <a:t>UCL</a:t>
            </a:r>
            <a:endParaRPr lang="en-US" sz="115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2971800" y="4572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"/>
            <a:r>
              <a:rPr lang="en-US" sz="1150" b="1">
                <a:solidFill>
                  <a:srgbClr val="324826"/>
                </a:solidFill>
                <a:latin typeface="Aptos"/>
              </a:rPr>
              <a:t>Edinburgh</a:t>
            </a:r>
            <a:endParaRPr lang="en-US" sz="115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897880" y="2743200"/>
            <a:ext cx="5440680" cy="2468880"/>
          </a:xfrm>
          <a:prstGeom prst="roundRect">
            <a:avLst/>
          </a:prstGeom>
          <a:solidFill>
            <a:srgbClr val="E9F1E0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217920" y="3035808"/>
            <a:ext cx="4754880" cy="16916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600" b="1">
                <a:solidFill>
                  <a:srgbClr val="324826"/>
                </a:solidFill>
                <a:latin typeface="Aptos"/>
              </a:rPr>
              <a:t>Target contributor channels</a:t>
            </a:r>
            <a:endParaRPr lang="en-US" sz="1600">
              <a:solidFill>
                <a:srgbClr val="324826"/>
              </a:solidFill>
              <a:latin typeface="Aptos"/>
            </a:endParaRPr>
          </a:p>
          <a:p>
            <a:pPr algn="l"/>
            <a:r>
              <a:rPr lang="en-US" sz="1600" b="1">
                <a:solidFill>
                  <a:srgbClr val="324826"/>
                </a:solidFill>
                <a:latin typeface="Aptos"/>
              </a:rPr>
              <a:t>Universities | health systems | policy groups | specialist reviewers | AI evaluation communities</a:t>
            </a:r>
            <a:endParaRPr lang="en-US" sz="16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6217920" y="45720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150" b="0">
                <a:solidFill>
                  <a:srgbClr val="5F7059"/>
                </a:solidFill>
                <a:latin typeface="Aptos"/>
              </a:rPr>
              <a:t>Stronger sources improve response quality, auditability, and repeat-study readiness.</a:t>
            </a:r>
            <a:endParaRPr lang="en-US" sz="1150">
              <a:solidFill>
                <a:srgbClr val="5F705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48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75488" y="384048"/>
            <a:ext cx="11201400" cy="73152"/>
          </a:xfrm>
          <a:prstGeom prst="rect">
            <a:avLst/>
          </a:prstGeom>
          <a:solidFill>
            <a:srgbClr val="DCE8C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58368" y="5029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DCE8CF"/>
                </a:solidFill>
                <a:latin typeface="Aptos"/>
              </a:rPr>
              <a:t>08</a:t>
            </a:r>
            <a:endParaRPr lang="en-US" sz="1800">
              <a:solidFill>
                <a:srgbClr val="DCE8CF"/>
              </a:solidFill>
              <a:latin typeface="Aptos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58368" y="868680"/>
            <a:ext cx="530352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Who ResearchAI is built for.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58368" y="18288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7EFE2"/>
                </a:solidFill>
                <a:latin typeface="Aptos"/>
              </a:rPr>
              <a:t>The platform fits research groups that need operating discipline, auditability, and repeat-ready contributors.</a:t>
            </a:r>
            <a:endParaRPr lang="en-US" sz="12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822960" y="2743200"/>
            <a:ext cx="2514600" cy="169164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969264" y="2871216"/>
            <a:ext cx="2221992" cy="143560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Product research teams</a:t>
            </a:r>
            <a:endParaRPr lang="en-US" sz="14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User interviews, concept testing, recurring feedback.</a:t>
            </a:r>
            <a:endParaRPr lang="en-US" sz="14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9" name="Shape 9"/>
          <p:cNvSpPr/>
          <p:nvPr/>
        </p:nvSpPr>
        <p:spPr>
          <a:xfrm>
            <a:off x="3611880" y="2743200"/>
            <a:ext cx="2514600" cy="1691640"/>
          </a:xfrm>
          <a:prstGeom prst="roundRect">
            <a:avLst/>
          </a:prstGeom>
          <a:solidFill>
            <a:srgbClr val="E6EDD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3758184" y="2871216"/>
            <a:ext cx="2221992" cy="143560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Policy and public interest research</a:t>
            </a:r>
            <a:endParaRPr lang="en-US" sz="14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Structured contributor screening and documentation.</a:t>
            </a:r>
            <a:endParaRPr lang="en-US" sz="14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400800" y="2743200"/>
            <a:ext cx="2514600" cy="1691640"/>
          </a:xfrm>
          <a:prstGeom prst="roundRect">
            <a:avLst/>
          </a:prstGeom>
          <a:solidFill>
            <a:srgbClr val="DCE8C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6547104" y="2871216"/>
            <a:ext cx="2221992" cy="143560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Healthcare and expert studies</a:t>
            </a:r>
            <a:endParaRPr lang="en-US" sz="14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Higher-trust cohorts and specialist routing.</a:t>
            </a:r>
            <a:endParaRPr lang="en-US" sz="14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9189720" y="2743200"/>
            <a:ext cx="2148840" cy="169164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9336024" y="2871216"/>
            <a:ext cx="1856232" cy="143560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AI labs and evaluation programs</a:t>
            </a:r>
            <a:endParaRPr lang="en-US" sz="14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400" b="1">
                <a:solidFill>
                  <a:srgbClr val="1F2D1B"/>
                </a:solidFill>
                <a:latin typeface="Aptos"/>
              </a:rPr>
              <a:t>Ongoing human-in-the-loop research.</a:t>
            </a:r>
            <a:endParaRPr lang="en-US" sz="1400">
              <a:solidFill>
                <a:srgbClr val="1F2D1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75488" y="384048"/>
            <a:ext cx="11201400" cy="73152"/>
          </a:xfrm>
          <a:prstGeom prst="rect">
            <a:avLst/>
          </a:prstGeom>
          <a:solidFill>
            <a:srgbClr val="5D7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58368" y="5029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5D7442"/>
                </a:solidFill>
                <a:latin typeface="Aptos"/>
              </a:rPr>
              <a:t>09</a:t>
            </a:r>
            <a:endParaRPr lang="en-US" sz="1800">
              <a:solidFill>
                <a:srgbClr val="5D7442"/>
              </a:solidFill>
              <a:latin typeface="Aptos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58368" y="868680"/>
            <a:ext cx="530352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The system surfaces research health, not just task lists.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58368" y="18288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7EFE2"/>
                </a:solidFill>
                <a:latin typeface="Aptos"/>
              </a:rPr>
              <a:t>Teams need visibility across coverage, quality, and retention to know whether their participant infrastructure is actually getting stronger.</a:t>
            </a:r>
            <a:endParaRPr lang="en-US" sz="12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914400" y="274320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60704" y="2871216"/>
            <a:ext cx="2999232" cy="175564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Coverage</a:t>
            </a:r>
            <a:endParaRPr lang="en-US" sz="16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Spot gaps in language, geography, devices, expertise, or availability.</a:t>
            </a:r>
            <a:endParaRPr lang="en-US" sz="16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9" name="Shape 9"/>
          <p:cNvSpPr/>
          <p:nvPr/>
        </p:nvSpPr>
        <p:spPr>
          <a:xfrm>
            <a:off x="4453128" y="2743200"/>
            <a:ext cx="3291840" cy="2011680"/>
          </a:xfrm>
          <a:prstGeom prst="roundRect">
            <a:avLst/>
          </a:prstGeom>
          <a:solidFill>
            <a:srgbClr val="E9F1E0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599432" y="2871216"/>
            <a:ext cx="2999232" cy="175564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Quality</a:t>
            </a:r>
            <a:endParaRPr lang="en-US" sz="16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Strengthen assignment decisions with notes, outcomes, and history.</a:t>
            </a:r>
            <a:endParaRPr lang="en-US" sz="16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991856" y="2743200"/>
            <a:ext cx="3291840" cy="2011680"/>
          </a:xfrm>
          <a:prstGeom prst="roundRect">
            <a:avLst/>
          </a:prstGeom>
          <a:solidFill>
            <a:srgbClr val="DCE8CF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138160" y="2871216"/>
            <a:ext cx="2999232" cy="175564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Retention</a:t>
            </a:r>
            <a:endParaRPr lang="en-US" sz="16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600" b="1">
                <a:solidFill>
                  <a:srgbClr val="1F2D1B"/>
                </a:solidFill>
                <a:latin typeface="Aptos"/>
              </a:rPr>
              <a:t>Preserve trusted contributor cohorts for repeat programs.</a:t>
            </a:r>
            <a:endParaRPr lang="en-US" sz="1600">
              <a:solidFill>
                <a:srgbClr val="1F2D1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D7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75488" y="384048"/>
            <a:ext cx="11201400" cy="73152"/>
          </a:xfrm>
          <a:prstGeom prst="rect">
            <a:avLst/>
          </a:prstGeom>
          <a:solidFill>
            <a:srgbClr val="E4E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58368" y="5029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E4EED8"/>
                </a:solidFill>
                <a:latin typeface="Aptos"/>
              </a:rPr>
              <a:t>10</a:t>
            </a:r>
            <a:endParaRPr lang="en-US" sz="1800">
              <a:solidFill>
                <a:srgbClr val="E4EED8"/>
              </a:solidFill>
              <a:latin typeface="Aptos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58368" y="868680"/>
            <a:ext cx="530352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Governance is part of the workflow, not a separate layer.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58368" y="18288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7EFE2"/>
                </a:solidFill>
                <a:latin typeface="Aptos"/>
              </a:rPr>
              <a:t>Screening, review rules, contributor memory, and readiness signals are designed to stay attached to the same records as the work itself.</a:t>
            </a:r>
            <a:endParaRPr lang="en-US" sz="12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822960" y="2834640"/>
            <a:ext cx="3429000" cy="210312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969264" y="2962656"/>
            <a:ext cx="3136392" cy="1847087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Review controls</a:t>
            </a:r>
            <a:endParaRPr lang="en-US" sz="15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Screen before assignment and keep eligibility logic attached to the study.</a:t>
            </a:r>
            <a:endParaRPr lang="en-US" sz="15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9" name="Shape 9"/>
          <p:cNvSpPr/>
          <p:nvPr/>
        </p:nvSpPr>
        <p:spPr>
          <a:xfrm>
            <a:off x="4389120" y="2834640"/>
            <a:ext cx="3429000" cy="2103120"/>
          </a:xfrm>
          <a:prstGeom prst="roundRect">
            <a:avLst/>
          </a:prstGeom>
          <a:solidFill>
            <a:srgbClr val="E6EDD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535424" y="2962656"/>
            <a:ext cx="3136392" cy="1847087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Contributor memory</a:t>
            </a:r>
            <a:endParaRPr lang="en-US" sz="15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Preserve notes, trust signals, and history across repeated programs.</a:t>
            </a:r>
            <a:endParaRPr lang="en-US" sz="15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955279" y="2834640"/>
            <a:ext cx="3429000" cy="2103120"/>
          </a:xfrm>
          <a:prstGeom prst="roundRect">
            <a:avLst/>
          </a:prstGeom>
          <a:solidFill>
            <a:srgbClr val="DCE8C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101583" y="2962656"/>
            <a:ext cx="3136392" cy="1847087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Program integrity</a:t>
            </a:r>
            <a:endParaRPr lang="en-US" sz="1500">
              <a:solidFill>
                <a:srgbClr val="1F2D1B"/>
              </a:solidFill>
              <a:latin typeface="Aptos"/>
            </a:endParaRPr>
          </a:p>
          <a:p>
            <a:pPr algn="l"/>
            <a:r>
              <a:rPr lang="en-US" sz="1500" b="1">
                <a:solidFill>
                  <a:srgbClr val="1F2D1B"/>
                </a:solidFill>
                <a:latin typeface="Aptos"/>
              </a:rPr>
              <a:t>Reduce drift by keeping records, notes, and operational states together.</a:t>
            </a:r>
            <a:endParaRPr lang="en-US" sz="1500">
              <a:solidFill>
                <a:srgbClr val="1F2D1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75488" y="384048"/>
            <a:ext cx="11201400" cy="73152"/>
          </a:xfrm>
          <a:prstGeom prst="rect">
            <a:avLst/>
          </a:prstGeom>
          <a:solidFill>
            <a:srgbClr val="6D875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58368" y="5029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6D8751"/>
                </a:solidFill>
                <a:latin typeface="Aptos"/>
              </a:rPr>
              <a:t>11</a:t>
            </a:r>
            <a:endParaRPr lang="en-US" sz="1800">
              <a:solidFill>
                <a:srgbClr val="6D8751"/>
              </a:solidFill>
              <a:latin typeface="Aptos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58368" y="868680"/>
            <a:ext cx="530352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Demand is large, fast-growing, and already segmented by revenue share.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58368" y="18288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7EFE2"/>
                </a:solidFill>
                <a:latin typeface="Aptos"/>
              </a:rPr>
              <a:t>ResearchAI sits where AI infrastructure, human evaluation, and regulated research operations increasingly overlap.</a:t>
            </a:r>
            <a:endParaRPr lang="en-US" sz="12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868680" y="2743200"/>
            <a:ext cx="26060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14983" y="2871216"/>
            <a:ext cx="2313432" cy="170992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"/>
            <a:r>
              <a:rPr lang="en-US" sz="1800" b="1">
                <a:solidFill>
                  <a:srgbClr val="1F2D1B"/>
                </a:solidFill>
                <a:latin typeface="Aptos"/>
              </a:rPr>
              <a:t>$390.9B</a:t>
            </a:r>
            <a:endParaRPr lang="en-US" sz="1800">
              <a:solidFill>
                <a:srgbClr val="1F2D1B"/>
              </a:solidFill>
              <a:latin typeface="Aptos"/>
            </a:endParaRPr>
          </a:p>
          <a:p>
            <a:pPr algn="c"/>
            <a:r>
              <a:rPr lang="en-US" sz="1800" b="1">
                <a:solidFill>
                  <a:srgbClr val="1F2D1B"/>
                </a:solidFill>
                <a:latin typeface="Aptos"/>
              </a:rPr>
              <a:t>AI market, 2025</a:t>
            </a:r>
            <a:endParaRPr lang="en-US" sz="18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9" name="Shape 9"/>
          <p:cNvSpPr/>
          <p:nvPr/>
        </p:nvSpPr>
        <p:spPr>
          <a:xfrm>
            <a:off x="3657600" y="2743200"/>
            <a:ext cx="2606040" cy="1965960"/>
          </a:xfrm>
          <a:prstGeom prst="roundRect">
            <a:avLst/>
          </a:prstGeom>
          <a:solidFill>
            <a:srgbClr val="E9F1E0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3803904" y="2871216"/>
            <a:ext cx="2313432" cy="170992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"/>
            <a:r>
              <a:rPr lang="en-US" sz="1800" b="1">
                <a:solidFill>
                  <a:srgbClr val="1F2D1B"/>
                </a:solidFill>
                <a:latin typeface="Aptos"/>
              </a:rPr>
              <a:t>35.5%</a:t>
            </a:r>
            <a:endParaRPr lang="en-US" sz="1800">
              <a:solidFill>
                <a:srgbClr val="1F2D1B"/>
              </a:solidFill>
              <a:latin typeface="Aptos"/>
            </a:endParaRPr>
          </a:p>
          <a:p>
            <a:pPr algn="c"/>
            <a:r>
              <a:rPr lang="en-US" sz="1800" b="1">
                <a:solidFill>
                  <a:srgbClr val="1F2D1B"/>
                </a:solidFill>
                <a:latin typeface="Aptos"/>
              </a:rPr>
              <a:t>North America share</a:t>
            </a:r>
            <a:endParaRPr lang="en-US" sz="18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446520" y="2743200"/>
            <a:ext cx="2606040" cy="1965960"/>
          </a:xfrm>
          <a:prstGeom prst="roundRect">
            <a:avLst/>
          </a:prstGeom>
          <a:solidFill>
            <a:srgbClr val="DCE8CF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6592824" y="2871216"/>
            <a:ext cx="2313432" cy="170992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"/>
            <a:r>
              <a:rPr lang="en-US" sz="1800" b="1">
                <a:solidFill>
                  <a:srgbClr val="1F2D1B"/>
                </a:solidFill>
                <a:latin typeface="Aptos"/>
              </a:rPr>
              <a:t>$36.7B</a:t>
            </a:r>
            <a:endParaRPr lang="en-US" sz="1800">
              <a:solidFill>
                <a:srgbClr val="1F2D1B"/>
              </a:solidFill>
              <a:latin typeface="Aptos"/>
            </a:endParaRPr>
          </a:p>
          <a:p>
            <a:pPr algn="c"/>
            <a:r>
              <a:rPr lang="en-US" sz="1800" b="1">
                <a:solidFill>
                  <a:srgbClr val="1F2D1B"/>
                </a:solidFill>
                <a:latin typeface="Aptos"/>
              </a:rPr>
              <a:t>AI in healthcare, 2025</a:t>
            </a:r>
            <a:endParaRPr lang="en-US" sz="180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9235440" y="2743200"/>
            <a:ext cx="21488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F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9381744" y="2871216"/>
            <a:ext cx="1856232" cy="170992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"/>
            <a:r>
              <a:rPr lang="en-US" sz="1650" b="1">
                <a:solidFill>
                  <a:srgbClr val="1F2D1B"/>
                </a:solidFill>
                <a:latin typeface="Aptos"/>
              </a:rPr>
              <a:t>36.2%</a:t>
            </a:r>
            <a:endParaRPr lang="en-US" sz="1650">
              <a:solidFill>
                <a:srgbClr val="1F2D1B"/>
              </a:solidFill>
              <a:latin typeface="Aptos"/>
            </a:endParaRPr>
          </a:p>
          <a:p>
            <a:pPr algn="c"/>
            <a:r>
              <a:rPr lang="en-US" sz="1650" b="1">
                <a:solidFill>
                  <a:srgbClr val="1F2D1B"/>
                </a:solidFill>
                <a:latin typeface="Aptos"/>
              </a:rPr>
              <a:t>Annotation tools NA share</a:t>
            </a:r>
            <a:endParaRPr lang="en-US" sz="1650">
              <a:solidFill>
                <a:srgbClr val="1F2D1B"/>
              </a:solidFill>
              <a:latin typeface="Aptos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1014983" y="5202936"/>
            <a:ext cx="10131552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919" b="0">
                <a:solidFill>
                  <a:srgbClr val="5F7059"/>
                </a:solidFill>
                <a:latin typeface="Aptos"/>
              </a:rPr>
              <a:t>Sources: Precedence Research (AI market, 2025), Precedence Research (AI in healthcare, 2025), Grand View Research (data annotation tools, 2024 share).</a:t>
            </a:r>
            <a:endParaRPr lang="en-US" sz="919">
              <a:solidFill>
                <a:srgbClr val="5F705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48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22960" y="8229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C9D8B5"/>
                </a:solidFill>
                <a:latin typeface="Aptos"/>
              </a:rPr>
              <a:t>12</a:t>
            </a:r>
            <a:endParaRPr lang="en-US" sz="1800">
              <a:solidFill>
                <a:srgbClr val="C9D8B5"/>
              </a:solidFill>
              <a:latin typeface="Aptos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822960" y="123444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Georgia"/>
              </a:rPr>
              <a:t>A staged rollout is straightforward.</a:t>
            </a:r>
            <a:endParaRPr lang="en-US" sz="25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822960" y="201168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200" b="0">
                <a:solidFill>
                  <a:srgbClr val="E7EFE2"/>
                </a:solidFill>
                <a:latin typeface="Aptos"/>
              </a:rPr>
              <a:t>The platform can be introduced as a focused workflow system before expanding into repeat research infrastructure.</a:t>
            </a:r>
            <a:endParaRPr lang="en-US" sz="12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6" name="Shape 6"/>
          <p:cNvSpPr/>
          <p:nvPr/>
        </p:nvSpPr>
        <p:spPr>
          <a:xfrm>
            <a:off x="914400" y="3200400"/>
            <a:ext cx="3383280" cy="192024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115568" y="34290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700" b="1">
                <a:solidFill>
                  <a:srgbClr val="324826"/>
                </a:solidFill>
                <a:latin typeface="Aptos"/>
              </a:rPr>
              <a:t>Phase 1</a:t>
            </a:r>
            <a:endParaRPr lang="en-US" sz="17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1115568" y="388620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300" b="0">
                <a:solidFill>
                  <a:srgbClr val="5F7059"/>
                </a:solidFill>
                <a:latin typeface="Aptos"/>
              </a:rPr>
              <a:t>Core intake and screener workflows</a:t>
            </a:r>
            <a:endParaRPr lang="en-US" sz="1300">
              <a:solidFill>
                <a:srgbClr val="5F7059"/>
              </a:solidFill>
              <a:latin typeface="Aptos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4434840" y="397763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"/>
            <a:r>
              <a:rPr lang="en-US" sz="2600" b="1">
                <a:solidFill>
                  <a:srgbClr val="DCE8CF"/>
                </a:solidFill>
                <a:latin typeface="Aptos"/>
              </a:rPr>
              <a:t>→</a:t>
            </a:r>
            <a:endParaRPr lang="en-US" sz="2600">
              <a:solidFill>
                <a:srgbClr val="DCE8CF"/>
              </a:solidFill>
              <a:latin typeface="Aptos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4709160" y="3200400"/>
            <a:ext cx="3383280" cy="192024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4910328" y="34290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700" b="1">
                <a:solidFill>
                  <a:srgbClr val="324826"/>
                </a:solidFill>
                <a:latin typeface="Aptos"/>
              </a:rPr>
              <a:t>Phase 2</a:t>
            </a:r>
            <a:endParaRPr lang="en-US" sz="17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4910328" y="388620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300" b="0">
                <a:solidFill>
                  <a:srgbClr val="5F7059"/>
                </a:solidFill>
                <a:latin typeface="Aptos"/>
              </a:rPr>
              <a:t>Study routing, review, and operational visibility</a:t>
            </a:r>
            <a:endParaRPr lang="en-US" sz="1300">
              <a:solidFill>
                <a:srgbClr val="5F7059"/>
              </a:solidFill>
              <a:latin typeface="Aptos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8229600" y="397763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"/>
            <a:r>
              <a:rPr lang="en-US" sz="2600" b="1">
                <a:solidFill>
                  <a:srgbClr val="DCE8CF"/>
                </a:solidFill>
                <a:latin typeface="Aptos"/>
              </a:rPr>
              <a:t>→</a:t>
            </a:r>
            <a:endParaRPr lang="en-US" sz="2600">
              <a:solidFill>
                <a:srgbClr val="DCE8CF"/>
              </a:solidFill>
              <a:latin typeface="Aptos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8503920" y="3200400"/>
            <a:ext cx="3383280" cy="1920240"/>
          </a:xfrm>
          <a:prstGeom prst="round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8705088" y="34290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700" b="1">
                <a:solidFill>
                  <a:srgbClr val="324826"/>
                </a:solidFill>
                <a:latin typeface="Aptos"/>
              </a:rPr>
              <a:t>Phase 3</a:t>
            </a:r>
            <a:endParaRPr lang="en-US" sz="1700">
              <a:solidFill>
                <a:srgbClr val="324826"/>
              </a:solidFill>
              <a:latin typeface="Aptos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8705088" y="388620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300" b="0">
                <a:solidFill>
                  <a:srgbClr val="5F7059"/>
                </a:solidFill>
                <a:latin typeface="Aptos"/>
              </a:rPr>
              <a:t>Repeat-ready AI and contributor programs</a:t>
            </a:r>
            <a:endParaRPr lang="en-US" sz="1300">
              <a:solidFill>
                <a:srgbClr val="5F705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777240" y="777240"/>
            <a:ext cx="10652760" cy="5303520"/>
          </a:xfrm>
          <a:prstGeom prst="roundRect">
            <a:avLst/>
          </a:prstGeom>
          <a:solidFill>
            <a:srgbClr val="3248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1188720" y="1234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 cap="all">
                <a:solidFill>
                  <a:srgbClr val="DCE8CF"/>
                </a:solidFill>
                <a:latin typeface="Aptos"/>
              </a:rPr>
              <a:t>13</a:t>
            </a:r>
            <a:endParaRPr lang="en-US" sz="1800">
              <a:solidFill>
                <a:srgbClr val="DCE8CF"/>
              </a:solidFill>
              <a:latin typeface="Aptos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1188720" y="1691640"/>
            <a:ext cx="4846320" cy="10515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Georgia"/>
              </a:rPr>
              <a:t>ResearchAI</a:t>
            </a:r>
            <a:endParaRPr lang="en-US" sz="30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1188720" y="278892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300" b="0">
                <a:solidFill>
                  <a:srgbClr val="E7EFE2"/>
                </a:solidFill>
                <a:latin typeface="Aptos"/>
              </a:rPr>
              <a:t>Research infrastructure for modern participant, study, and AI workflows.</a:t>
            </a:r>
            <a:endParaRPr lang="en-US" sz="1300">
              <a:solidFill>
                <a:srgbClr val="E7EFE2"/>
              </a:solidFill>
              <a:latin typeface="Apto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400800" y="1325880"/>
            <a:ext cx="4023360" cy="3474720"/>
          </a:xfrm>
          <a:prstGeom prst="roundRect">
            <a:avLst/>
          </a:prstGeom>
          <a:solidFill>
            <a:srgbClr val="5D7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6720840" y="17373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Aptos"/>
              </a:rPr>
              <a:t>Contact</a:t>
            </a:r>
            <a:endParaRPr lang="en-US" sz="18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6720840" y="224028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500" b="1">
                <a:solidFill>
                  <a:srgbClr val="E4EED8"/>
                </a:solidFill>
                <a:latin typeface="Aptos"/>
              </a:rPr>
              <a:t>info@researchai.co.uk</a:t>
            </a:r>
            <a:endParaRPr lang="en-US" sz="1500">
              <a:solidFill>
                <a:srgbClr val="E4EED8"/>
              </a:solidFill>
              <a:latin typeface="Aptos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6720840" y="297180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300" b="0">
                <a:solidFill>
                  <a:srgbClr val="E4EED8"/>
                </a:solidFill>
                <a:latin typeface="Aptos"/>
              </a:rPr>
              <a:t>75 Shelton Street</a:t>
            </a:r>
            <a:endParaRPr lang="en-US" sz="1300">
              <a:solidFill>
                <a:srgbClr val="E4EED8"/>
              </a:solidFill>
              <a:latin typeface="Aptos"/>
            </a:endParaRPr>
          </a:p>
          <a:p>
            <a:pPr algn="l"/>
            <a:r>
              <a:rPr lang="en-US" sz="1300" b="0">
                <a:solidFill>
                  <a:srgbClr val="E4EED8"/>
                </a:solidFill>
                <a:latin typeface="Aptos"/>
              </a:rPr>
              <a:t>London, England</a:t>
            </a:r>
            <a:endParaRPr lang="en-US" sz="1300">
              <a:solidFill>
                <a:srgbClr val="E4EED8"/>
              </a:solidFill>
              <a:latin typeface="Aptos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1188720" y="512064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Aptos"/>
              </a:rPr>
              <a:t>Built to run calmer, stronger research systems.</a:t>
            </a:r>
            <a:endParaRPr lang="en-US" sz="180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ResearchAI Pitch Deck</dc:title>
  <dc:creator>OpenAI Codex</dc:creator>
  <cp:lastModifiedBy>OpenAI Codex</cp:lastModifiedBy>
  <dcterms:created xsi:type="dcterms:W3CDTF">2026-05-25T21:18:36Z</dcterms:created>
  <dcterms:modified xsi:type="dcterms:W3CDTF">2026-05-25T21:18:36Z</dcterms:modified>
</cp:coreProperties>
</file>